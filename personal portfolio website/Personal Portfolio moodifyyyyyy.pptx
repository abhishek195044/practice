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Plus Jakarta Sans"/>
      <ns0:bold ns1:id="rIdFont18"/>
      <ns0:regular ns1:id="rIdFont19"/>
    </ns0:embeddedFont>
    <ns0:embeddedFont>
      <ns0:font typeface="Space Grotesk"/>
      <ns0:bold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9ace3155-8d25-45d8-b318-5785ec7f5535.fntdata" /><ns0:Relationship Id="rIdFont19" Type="http://schemas.openxmlformats.org/officeDocument/2006/relationships/font" Target="fonts/f12fd088-98c2-409d-b114-3634b96ffc55.fntdata" /><ns0:Relationship Id="rIdFont20" Type="http://schemas.openxmlformats.org/officeDocument/2006/relationships/font" Target="fonts/0b7e6818-3bb1-43c9-af61-02d614414f3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802909" cy="6858000"/>
          </a:xfrm>
          <a:prstGeom prst="rect">
            <a:avLst/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886842"/>
            <a:ext cx="2390775" cy="304800"/>
          </a:xfrm>
          <a:prstGeom prst="roundRect">
            <a:avLst>
              <a:gd name="adj" fmla="val 50000"/>
            </a:avLst>
          </a:prstGeom>
          <a:solidFill>
            <a:srgbClr val="1A3047"/>
          </a:solidFill>
          <a:ln w="9525">
            <a:solidFill>
              <a:srgbClr val="214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075658"/>
            <a:ext cx="6583709" cy="895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075658"/>
            <a:ext cx="658370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599533"/>
            <a:ext cx="1428750" cy="371475"/>
          </a:xfrm>
          <a:prstGeom prst="roundRect">
            <a:avLst>
              <a:gd name="adj" fmla="val 20512"/>
            </a:avLst>
          </a:prstGeom>
          <a:solidFill>
            <a:srgbClr val="23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28850" y="4599533"/>
            <a:ext cx="1638300" cy="371475"/>
          </a:xfrm>
          <a:prstGeom prst="roundRect">
            <a:avLst>
              <a:gd name="adj" fmla="val 20512"/>
            </a:avLst>
          </a:prstGeom>
          <a:solidFill>
            <a:srgbClr val="23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57650" y="4599533"/>
            <a:ext cx="1323975" cy="371475"/>
          </a:xfrm>
          <a:prstGeom prst="roundRect">
            <a:avLst>
              <a:gd name="adj" fmla="val 20512"/>
            </a:avLst>
          </a:prstGeom>
          <a:solidFill>
            <a:srgbClr val="23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909" y="0"/>
            <a:ext cx="4389090" cy="685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972567"/>
            <a:ext cx="171450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2420242"/>
            <a:ext cx="8641119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Space Grotesk"/>
              </a:rPr>
              <a:t>Personal Portfolio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180308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A modern, SEO-optimized personal web platform engineered with HTML5, CSS Grid/Flexbox, and ES6 JavaScript.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1953517"/>
            <a:ext cx="2274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SDC PROJECT REVIEW –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313783"/>
            <a:ext cx="82296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PROJECT TEAM (CSE, KL UNIVERSITY)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694783"/>
            <a:ext cx="14097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Plus Jakarta Sans"/>
              </a:rPr>
              <a:t>Abhishek Kumar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1250" y="4694783"/>
            <a:ext cx="1666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Plus Jakarta Sans"/>
              </a:rPr>
              <a:t>Chaitanya Karande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0050" y="4694783"/>
            <a:ext cx="13049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Plus Jakarta Sans"/>
              </a:rPr>
              <a:t>Deepak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38350"/>
            <a:ext cx="638934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57575"/>
            <a:ext cx="6389340" cy="1009650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57725"/>
            <a:ext cx="638934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257550"/>
            <a:ext cx="63893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038350"/>
            <a:ext cx="63893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038350"/>
            <a:ext cx="47625" cy="12287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89415" y="2038350"/>
            <a:ext cx="9525" cy="1228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457700"/>
            <a:ext cx="63893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457575"/>
            <a:ext cx="63893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457575"/>
            <a:ext cx="47625" cy="10096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89415" y="3457575"/>
            <a:ext cx="9525" cy="10096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5876925"/>
            <a:ext cx="63893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4657725"/>
            <a:ext cx="63893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4657725"/>
            <a:ext cx="47625" cy="122872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89415" y="4657725"/>
            <a:ext cx="9525" cy="1228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740" y="1600200"/>
            <a:ext cx="4278659" cy="4724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265" y="1609725"/>
            <a:ext cx="4259609" cy="4705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300287"/>
            <a:ext cx="14287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3719512"/>
            <a:ext cx="21907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919662"/>
            <a:ext cx="190500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9600" y="533400"/>
            <a:ext cx="8608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01. PROBLEM 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781050"/>
            <a:ext cx="9038629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Challenges in Online Professional Identity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825" y="2590800"/>
            <a:ext cx="597024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Static documents cannot demonstrate interactive web code or live responsive layouts.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825" y="4010025"/>
            <a:ext cx="73437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Projects, repos, and blogs are scattered across disconnected platforms.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" y="5210175"/>
            <a:ext cx="597024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Without dedicated SEO optimization, showcasing work effectively to employers is difficult.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2276475"/>
            <a:ext cx="311288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Static Resume Limitations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200" y="3695700"/>
            <a:ext cx="325040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Fragmented Achievements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0625" y="4895850"/>
            <a:ext cx="352544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Low Recruiter Discoverability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76975" y="1752600"/>
            <a:ext cx="5305425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76975" y="3276600"/>
            <a:ext cx="5305425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76975" y="4800600"/>
            <a:ext cx="5305425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33600"/>
            <a:ext cx="5324475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143125"/>
            <a:ext cx="5305425" cy="3600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1990725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3514725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5038725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2085975"/>
            <a:ext cx="1714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609975"/>
            <a:ext cx="1143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0350" y="5133975"/>
            <a:ext cx="1524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02. PROPOSED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Modern Personal Portfolio Web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2409825"/>
            <a:ext cx="49244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Integrates galleries, blogs, skill breakdowns, and contact options into one location.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3933825"/>
            <a:ext cx="49244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CSS Grid and Flexbox layouts built with an instant Light/Dark Mode toggle.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5457825"/>
            <a:ext cx="49244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Semantic HTML5 tags to maximize search engine indexing and recruiter visibility.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2300" y="2043112"/>
            <a:ext cx="272534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All-in-One Digital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300" y="3567112"/>
            <a:ext cx="291286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Responsive &amp; Modern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2300" y="5091112"/>
            <a:ext cx="315039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SEO-Optimized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81300"/>
            <a:ext cx="2571750" cy="232410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781300"/>
            <a:ext cx="2571750" cy="232410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781300"/>
            <a:ext cx="2571750" cy="232410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781300"/>
            <a:ext cx="2571750" cy="232410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03. CORE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Technical &amp; Operational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095625"/>
            <a:ext cx="2038350" cy="1695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4275" y="3095625"/>
            <a:ext cx="2038350" cy="1695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095625"/>
            <a:ext cx="2038350" cy="1695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4975" y="3095625"/>
            <a:ext cx="2038350" cy="1695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6366F1"/>
                </a:solidFill>
                <a:latin typeface="Plus Jakarta San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581400"/>
            <a:ext cx="214026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Showcase Portfolio 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133850"/>
            <a:ext cx="20383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Detailed project galleries and case studies.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4275" y="3581400"/>
            <a:ext cx="214026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Pure Front-End Mastery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4275" y="4133850"/>
            <a:ext cx="20383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Built strictly with Vanilla HTML5, CSS3, and ES6 JS.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3581400"/>
            <a:ext cx="214026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Interactive User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4133850"/>
            <a:ext cx="20383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Local Storage auth, dark mode, and smooth section routing.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4975" y="3581400"/>
            <a:ext cx="214026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SEO &amp; Standard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4975" y="4133850"/>
            <a:ext cx="20383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Semantic HTML markup for search engine discovery.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62100"/>
            <a:ext cx="5334000" cy="47625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562100"/>
            <a:ext cx="5334000" cy="47625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933575"/>
            <a:ext cx="4191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350" y="1933575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37" y="2047875"/>
            <a:ext cx="2381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0837" y="2047875"/>
            <a:ext cx="23812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2571750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2943225"/>
            <a:ext cx="1524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3424237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3905250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2571750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2943225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14700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686175"/>
            <a:ext cx="152400" cy="1809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04. SYSTEM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Module Architecture &amp; Functional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2552700"/>
            <a:ext cx="551497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Content Management: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Site owner content updates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2924175"/>
            <a:ext cx="551497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Portfolio Management: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Add, edit, or delete items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3295650"/>
            <a:ext cx="44577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Blog Oversight: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Create and manage published articles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3886200"/>
            <a:ext cx="551497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Contact Inquiries: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View submitted visitor messages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552700"/>
            <a:ext cx="533400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Public Exploration: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Browse projects, skills &amp; articles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924175"/>
            <a:ext cx="533400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Contact Form: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Send direct inquiries to site owner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295650"/>
            <a:ext cx="533400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Theme Customization: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Toggle Light &amp; Dark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667125"/>
            <a:ext cx="533400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Client Routing: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Fast JS-based section navigation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4950" y="1924050"/>
            <a:ext cx="1988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MODULE 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4950" y="2076450"/>
            <a:ext cx="208776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Admin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750" y="1924050"/>
            <a:ext cx="17264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MODULE 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43750" y="2076450"/>
            <a:ext cx="181272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User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09762"/>
            <a:ext cx="5835997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28987"/>
            <a:ext cx="5835997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748212"/>
            <a:ext cx="5835997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97" y="2133600"/>
            <a:ext cx="4793902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022" y="2143125"/>
            <a:ext cx="4774852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05. ADMIN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Admin Module: Content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147887"/>
            <a:ext cx="703466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Manage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462212"/>
            <a:ext cx="545499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Add, update, or remove project cards, live demo links, and GitHub repository URLs.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567112"/>
            <a:ext cx="703466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Manage Blog Posts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881437"/>
            <a:ext cx="545499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Create, edit, and categorize blog articles and technical notes for visitors.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986337"/>
            <a:ext cx="703466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Contact Form Oversight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5300662"/>
            <a:ext cx="545499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Review and manage feedback and messages submitted by potential employers.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0350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00350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00350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1467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1467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146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3238500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550" y="3238500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9637" y="3238500"/>
            <a:ext cx="18097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06. USER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User Module: Visitor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76237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Portfolio Exploration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114800"/>
            <a:ext cx="2971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Browse project galleries, technical blogs, and skill breakdowns seamlessly.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76237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Interactive Engagement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114800"/>
            <a:ext cx="2971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Submit direct messages via the contact form and toggle themes dynamically.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76237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Module Redirection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114800"/>
            <a:ext cx="2971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Fast, client-side section switching powered purely by Vanilla JavaScript.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76975" y="1962150"/>
            <a:ext cx="5305425" cy="87630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76975" y="2990850"/>
            <a:ext cx="5305425" cy="87630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76975" y="4019550"/>
            <a:ext cx="5305425" cy="87630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76975" y="5048250"/>
            <a:ext cx="5305425" cy="87630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33600"/>
            <a:ext cx="5324475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143125"/>
            <a:ext cx="530542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07. 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Core Implementation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2162175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HTML5 &amp; CSS3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2419350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Semantic architecture with CSS Grid &amp; Flexbox layouts.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190875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Vanilla JavaScript (ES6)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3448050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DOM manipulation, event handling &amp; dynamic routing.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4219575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Local Storage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4476750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Client-side auth persistence &amp; theme state memory.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5248275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GitHub Version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5505450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Hosted repository with GitHub Pages live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24137"/>
            <a:ext cx="5334000" cy="2638425"/>
          </a:xfrm>
          <a:prstGeom prst="roundRect">
            <a:avLst>
              <a:gd name="adj" fmla="val 57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14600"/>
            <a:ext cx="5334000" cy="28575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08. UI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Core UI Sections &amp; Interactive Utilities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2938462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Core UI Sections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282892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Interactive Utilities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395662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• Home Section: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Hero bio &amp; primary Call To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729037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• About &amp; Skills: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Categorized technical skill badges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062412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• Projects Gallery: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Responsive Grid with demo links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395787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• Blogs Section: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Article cards with reading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729162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• Contact Form: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Interactive feedback &amp; inquiry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286125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• Authentication Flow: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Local Storage login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619500"/>
            <a:ext cx="4800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• Dark Mode Toggle: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Instant theme switching with CSS vars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171950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• Fluid Responsive Alignment: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CSS Grid &amp; Flexbox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4505325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• Single-Page Experience: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Fast section redirection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4838700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• Live Hosting: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GitHub Pages hosted for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9875"/>
            <a:ext cx="5334000" cy="2266950"/>
          </a:xfrm>
          <a:prstGeom prst="roundRect">
            <a:avLst>
              <a:gd name="adj" fmla="val 6722"/>
            </a:avLst>
          </a:prstGeom>
          <a:solidFill>
            <a:srgbClr val="161E30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09875"/>
            <a:ext cx="5334000" cy="2266950"/>
          </a:xfrm>
          <a:prstGeom prst="roundRect">
            <a:avLst>
              <a:gd name="adj" fmla="val 6722"/>
            </a:avLst>
          </a:prstGeom>
          <a:solidFill>
            <a:srgbClr val="161E30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562350"/>
            <a:ext cx="15240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895725"/>
            <a:ext cx="15240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229100"/>
            <a:ext cx="15240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562475"/>
            <a:ext cx="15240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562350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895725"/>
            <a:ext cx="1524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4229100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4562475"/>
            <a:ext cx="152400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09. SUMMARY &amp;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Conclusion &amp; 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124200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Plus Jakarta Sans"/>
              </a:rPr>
              <a:t>Key Learning Outcomes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124200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4D399"/>
                </a:solidFill>
                <a:latin typeface="Plus Jakarta Sans"/>
              </a:rPr>
              <a:t>Future Enhancements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1575" y="3543300"/>
            <a:ext cx="5634037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Responsive layout design with Grid/Flexbox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1575" y="3876675"/>
            <a:ext cx="5634037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Auth &amp; theme persistence with Local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1575" y="4210050"/>
            <a:ext cx="5634037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Practical DOM &amp; JS event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1575" y="4543425"/>
            <a:ext cx="5634037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GitHub version control &amp;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0375" y="3543300"/>
            <a:ext cx="538162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Backend Integration with Node.js &amp; REST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375" y="3876675"/>
            <a:ext cx="538162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Database Storage migration to MongoDB /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0375" y="4210050"/>
            <a:ext cx="538162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Custom Domain &amp; SSL security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0375" y="4543425"/>
            <a:ext cx="538162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Framer Motion &amp; EmailJS API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7049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4765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2480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38225"/>
            <a:ext cx="857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47850"/>
            <a:ext cx="857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19375"/>
            <a:ext cx="857250" cy="476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90900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0052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00012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https://img.magnific.com/premium-photo/modern-workspace-aesthetic-with-coffee-laptop-programming-code-colorful-light-environment_1288053-15163.jpg?semt=ais_hybrid&amp;w=740&amp;q=80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1352550"/>
            <a:ext cx="2524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www.magnific.com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1885950"/>
            <a:ext cx="6381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https://www.theforage.com/blog/wp-content/uploads/2022/11/online-portfolio.jpg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085975"/>
            <a:ext cx="3119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careerservices.upenn.edu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2657475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https://www.mockupworld.co/wp-content/uploads/dynamic/2026/05/free-laptop-and-smartphone-screen-mockup-536x0-c-default.jpg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2857500"/>
            <a:ext cx="2821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www.mockupworld.co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429000"/>
            <a:ext cx="6357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https://www.adminuiux.com/wp-content/uploads/2025/08/01_banner-adminux.png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3629025"/>
            <a:ext cx="2655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www.adminuiux.com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416242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https://media.istockphoto.com/id/1314492642/vector/vector-illustration-web-development-programming-coding-icon-laptop-with-program-code-on-the.jpg?s=612x612&amp;w=0&amp;k=20&amp;c=ZuF1wXrA2QK3y_n_FNZBFZEk0RSdekIKYnHBFS1ZjGI=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514850"/>
            <a:ext cx="2833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